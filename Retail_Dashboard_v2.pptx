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Revenue ($K)</c:v>
                </c:pt>
              </c:strCache>
            </c:strRef>
          </c:tx>
          <c:spPr>
            <a:solidFill>
              <a:srgbClr val="185FA5"/>
            </a:solidFill>
            <a:ln w="25400" cap="flat">
              <a:solidFill>
                <a:srgbClr val="185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85FA5"/>
              </a:solidFill>
              <a:ln w="9525" cap="flat">
                <a:solidFill>
                  <a:srgbClr val="185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773</c:v>
                </c:pt>
                <c:pt idx="1">
                  <c:v>744</c:v>
                </c:pt>
                <c:pt idx="2">
                  <c:v>673</c:v>
                </c:pt>
                <c:pt idx="3">
                  <c:v>636</c:v>
                </c:pt>
                <c:pt idx="4">
                  <c:v>641</c:v>
                </c:pt>
                <c:pt idx="5">
                  <c:v>589</c:v>
                </c:pt>
                <c:pt idx="6">
                  <c:v>633</c:v>
                </c:pt>
                <c:pt idx="7">
                  <c:v>705</c:v>
                </c:pt>
                <c:pt idx="8">
                  <c:v>856</c:v>
                </c:pt>
                <c:pt idx="9">
                  <c:v>673</c:v>
                </c:pt>
                <c:pt idx="10">
                  <c:v>729</c:v>
                </c:pt>
                <c:pt idx="11">
                  <c:v>615</c:v>
                </c:pt>
                <c:pt idx="12">
                  <c:v>556</c:v>
                </c:pt>
                <c:pt idx="13">
                  <c:v>686</c:v>
                </c:pt>
                <c:pt idx="14">
                  <c:v>681</c:v>
                </c:pt>
                <c:pt idx="15">
                  <c:v>693</c:v>
                </c:pt>
                <c:pt idx="16">
                  <c:v>625</c:v>
                </c:pt>
                <c:pt idx="17">
                  <c:v>717</c:v>
                </c:pt>
                <c:pt idx="18">
                  <c:v>660</c:v>
                </c:pt>
                <c:pt idx="19">
                  <c:v>707</c:v>
                </c:pt>
                <c:pt idx="20">
                  <c:v>616</c:v>
                </c:pt>
                <c:pt idx="21">
                  <c:v>626</c:v>
                </c:pt>
                <c:pt idx="22">
                  <c:v>650</c:v>
                </c:pt>
                <c:pt idx="23">
                  <c:v>711</c:v>
                </c:pt>
                <c:pt idx="24">
                  <c:v>683</c:v>
                </c:pt>
                <c:pt idx="25">
                  <c:v>641</c:v>
                </c:pt>
                <c:pt idx="26">
                  <c:v>629</c:v>
                </c:pt>
                <c:pt idx="27">
                  <c:v>731</c:v>
                </c:pt>
                <c:pt idx="28">
                  <c:v>601</c:v>
                </c:pt>
                <c:pt idx="29">
                  <c:v>556</c:v>
                </c:pt>
                <c:pt idx="30">
                  <c:v>496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4B2A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00"/>
        </c:scaling>
        <c:delete val="0"/>
        <c:axPos val="l"/>
        <c:majorGridlines>
          <c:spPr>
            <a:ln w="6350" cap="flat">
              <a:solidFill>
                <a:srgbClr val="D3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4B2A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44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5B7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D4F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Furniture</c:v>
                  </c:pt>
                  <c:pt idx="2">
                    <c:v>Toys</c:v>
                  </c:pt>
                  <c:pt idx="3">
                    <c:v>Clothing</c:v>
                  </c:pt>
                  <c:pt idx="4">
                    <c:v>Groceries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4761</c:v>
                </c:pt>
                <c:pt idx="1">
                  <c:v>4446</c:v>
                </c:pt>
                <c:pt idx="2">
                  <c:v>4430</c:v>
                </c:pt>
                <c:pt idx="3">
                  <c:v>4255</c:v>
                </c:pt>
                <c:pt idx="4">
                  <c:v>4113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800"/>
        </c:scaling>
        <c:delete val="0"/>
        <c:axPos val="b"/>
        <c:majorGridlines>
          <c:spPr>
            <a:ln w="6350" cap="flat">
              <a:solidFill>
                <a:srgbClr val="D3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4B2A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85A3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7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537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S002</c:v>
                  </c:pt>
                  <c:pt idx="1">
                    <c:v>S003</c:v>
                  </c:pt>
                  <c:pt idx="2">
                    <c:v>S005</c:v>
                  </c:pt>
                  <c:pt idx="3">
                    <c:v>S004</c:v>
                  </c:pt>
                  <c:pt idx="4">
                    <c:v>S001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4697</c:v>
                </c:pt>
                <c:pt idx="1">
                  <c:v>4576</c:v>
                </c:pt>
                <c:pt idx="2">
                  <c:v>4382</c:v>
                </c:pt>
                <c:pt idx="3">
                  <c:v>4303</c:v>
                </c:pt>
                <c:pt idx="4">
                  <c:v>4048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600"/>
        </c:scaling>
        <c:delete val="0"/>
        <c:axPos val="b"/>
        <c:majorGridlines>
          <c:spPr>
            <a:ln w="6350" cap="flat">
              <a:solidFill>
                <a:srgbClr val="D3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4B2A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44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5B7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D4F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0% off</c:v>
                  </c:pt>
                  <c:pt idx="1">
                    <c:v>5% off</c:v>
                  </c:pt>
                  <c:pt idx="2">
                    <c:v>10% off</c:v>
                  </c:pt>
                  <c:pt idx="3">
                    <c:v>15% off</c:v>
                  </c:pt>
                  <c:pt idx="4">
                    <c:v>20% off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4733</c:v>
                </c:pt>
                <c:pt idx="1">
                  <c:v>4466</c:v>
                </c:pt>
                <c:pt idx="2">
                  <c:v>4813</c:v>
                </c:pt>
                <c:pt idx="3">
                  <c:v>4127</c:v>
                </c:pt>
                <c:pt idx="4">
                  <c:v>3867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3500"/>
        </c:scaling>
        <c:delete val="0"/>
        <c:axPos val="l"/>
        <c:majorGridlines>
          <c:spPr>
            <a:ln w="6350" cap="flat">
              <a:solidFill>
                <a:srgbClr val="D3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4B2A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Holiday Lift %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7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85A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Groceries</c:v>
                  </c:pt>
                  <c:pt idx="1">
                    <c:v>Electronics</c:v>
                  </c:pt>
                  <c:pt idx="2">
                    <c:v>Toys</c:v>
                  </c:pt>
                  <c:pt idx="3">
                    <c:v>Clothing</c:v>
                  </c:pt>
                  <c:pt idx="4">
                    <c:v>Furniture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10.9</c:v>
                </c:pt>
                <c:pt idx="1">
                  <c:v>5.6</c:v>
                </c:pt>
                <c:pt idx="2">
                  <c:v>3.5</c:v>
                </c:pt>
                <c:pt idx="3">
                  <c:v>-0.1</c:v>
                </c:pt>
                <c:pt idx="4">
                  <c:v>-4.7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-7"/>
        </c:scaling>
        <c:delete val="0"/>
        <c:axPos val="l"/>
        <c:majorGridlines>
          <c:spPr>
            <a:ln w="6350" cap="flat">
              <a:solidFill>
                <a:srgbClr val="D3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4B2A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85A3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78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West</c:v>
                  </c:pt>
                  <c:pt idx="2">
                    <c:v>South</c:v>
                  </c:pt>
                  <c:pt idx="3">
                    <c:v>East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5847</c:v>
                </c:pt>
                <c:pt idx="1">
                  <c:v>5649</c:v>
                </c:pt>
                <c:pt idx="2">
                  <c:v>5282</c:v>
                </c:pt>
                <c:pt idx="3">
                  <c:v>5229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800"/>
        </c:scaling>
        <c:delete val="0"/>
        <c:axPos val="b"/>
        <c:majorGridlines>
          <c:spPr>
            <a:ln w="6350" cap="flat">
              <a:solidFill>
                <a:srgbClr val="D3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4B2A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Price ($)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Clothing</c:v>
                  </c:pt>
                  <c:pt idx="2">
                    <c:v>Furniture</c:v>
                  </c:pt>
                  <c:pt idx="3">
                    <c:v>Groceries</c:v>
                  </c:pt>
                  <c:pt idx="4">
                    <c:v>Toys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54.4</c:v>
                </c:pt>
                <c:pt idx="1">
                  <c:v>58.08</c:v>
                </c:pt>
                <c:pt idx="2">
                  <c:v>54.95</c:v>
                </c:pt>
                <c:pt idx="3">
                  <c:v>54.56</c:v>
                </c:pt>
                <c:pt idx="4">
                  <c:v>55.35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Competitor ($)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Clothing</c:v>
                  </c:pt>
                  <c:pt idx="2">
                    <c:v>Furniture</c:v>
                  </c:pt>
                  <c:pt idx="3">
                    <c:v>Groceries</c:v>
                  </c:pt>
                  <c:pt idx="4">
                    <c:v>Toys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54.61</c:v>
                </c:pt>
                <c:pt idx="1">
                  <c:v>58.22</c:v>
                </c:pt>
                <c:pt idx="2">
                  <c:v>55.06</c:v>
                </c:pt>
                <c:pt idx="3">
                  <c:v>54.59</c:v>
                </c:pt>
                <c:pt idx="4">
                  <c:v>55.36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0"/>
        </c:scaling>
        <c:delete val="0"/>
        <c:axPos val="b"/>
        <c:majorGridlines>
          <c:spPr>
            <a:ln w="6350" cap="flat">
              <a:solidFill>
                <a:srgbClr val="D3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4B2A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(yhat)</c:v>
                </c:pt>
              </c:strCache>
            </c:strRef>
          </c:tx>
          <c:spPr>
            <a:solidFill>
              <a:srgbClr val="185FA5"/>
            </a:solidFill>
            <a:ln w="25400" cap="flat">
              <a:solidFill>
                <a:srgbClr val="185FA5"/>
              </a:solidFill>
              <a:prstDash val="solid,dash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85FA5"/>
              </a:solidFill>
              <a:ln w="9525" cap="flat">
                <a:solidFill>
                  <a:srgbClr val="185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Jan'22</c:v>
                  </c:pt>
                  <c:pt idx="1">
                    <c:v>Feb'22</c:v>
                  </c:pt>
                  <c:pt idx="2">
                    <c:v>Mar'22</c:v>
                  </c:pt>
                  <c:pt idx="3">
                    <c:v>Apr'22</c:v>
                  </c:pt>
                  <c:pt idx="4">
                    <c:v>May'22</c:v>
                  </c:pt>
                  <c:pt idx="5">
                    <c:v>Jun'22</c:v>
                  </c:pt>
                  <c:pt idx="6">
                    <c:v>Jul'22</c:v>
                  </c:pt>
                  <c:pt idx="7">
                    <c:v>Aug'22</c:v>
                  </c:pt>
                  <c:pt idx="8">
                    <c:v>Sep'22</c:v>
                  </c:pt>
                  <c:pt idx="9">
                    <c:v>Oct'22</c:v>
                  </c:pt>
                  <c:pt idx="10">
                    <c:v>Nov'22</c:v>
                  </c:pt>
                  <c:pt idx="11">
                    <c:v>Dec'22</c:v>
                  </c:pt>
                  <c:pt idx="12">
                    <c:v>Jan'23</c:v>
                  </c:pt>
                  <c:pt idx="13">
                    <c:v>Feb'23</c:v>
                  </c:pt>
                  <c:pt idx="14">
                    <c:v>Mar'23</c:v>
                  </c:pt>
                  <c:pt idx="15">
                    <c:v>Apr'23</c:v>
                  </c:pt>
                  <c:pt idx="16">
                    <c:v>May'23</c:v>
                  </c:pt>
                  <c:pt idx="17">
                    <c:v>Jun'23</c:v>
                  </c:pt>
                  <c:pt idx="18">
                    <c:v>Jul'23</c:v>
                  </c:pt>
                  <c:pt idx="19">
                    <c:v>Aug'23</c:v>
                  </c:pt>
                  <c:pt idx="20">
                    <c:v>Sep'23</c:v>
                  </c:pt>
                  <c:pt idx="21">
                    <c:v>Oct'23</c:v>
                  </c:pt>
                  <c:pt idx="22">
                    <c:v>Nov'23</c:v>
                  </c:pt>
                  <c:pt idx="23">
                    <c:v>Dec'23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422</c:v>
                </c:pt>
                <c:pt idx="1">
                  <c:v>389</c:v>
                </c:pt>
                <c:pt idx="2">
                  <c:v>422</c:v>
                </c:pt>
                <c:pt idx="3">
                  <c:v>406</c:v>
                </c:pt>
                <c:pt idx="4">
                  <c:v>420</c:v>
                </c:pt>
                <c:pt idx="5">
                  <c:v>410</c:v>
                </c:pt>
                <c:pt idx="6">
                  <c:v>435</c:v>
                </c:pt>
                <c:pt idx="7">
                  <c:v>421</c:v>
                </c:pt>
                <c:pt idx="8">
                  <c:v>408</c:v>
                </c:pt>
                <c:pt idx="9">
                  <c:v>428</c:v>
                </c:pt>
                <c:pt idx="10">
                  <c:v>414</c:v>
                </c:pt>
                <c:pt idx="11">
                  <c:v>419</c:v>
                </c:pt>
                <c:pt idx="12">
                  <c:v>420</c:v>
                </c:pt>
                <c:pt idx="13">
                  <c:v>386</c:v>
                </c:pt>
                <c:pt idx="14">
                  <c:v>419</c:v>
                </c:pt>
                <c:pt idx="15">
                  <c:v>403</c:v>
                </c:pt>
                <c:pt idx="16">
                  <c:v>418</c:v>
                </c:pt>
                <c:pt idx="17">
                  <c:v>408</c:v>
                </c:pt>
                <c:pt idx="18">
                  <c:v>433</c:v>
                </c:pt>
                <c:pt idx="19">
                  <c:v>420</c:v>
                </c:pt>
                <c:pt idx="20">
                  <c:v>406</c:v>
                </c:pt>
                <c:pt idx="21">
                  <c:v>427</c:v>
                </c:pt>
                <c:pt idx="22">
                  <c:v>413</c:v>
                </c:pt>
                <c:pt idx="23">
                  <c:v>418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Lower 80% CI</c:v>
                </c:pt>
              </c:strCache>
            </c:strRef>
          </c:tx>
          <c:spPr>
            <a:solidFill>
              <a:srgbClr val="B5D4F4"/>
            </a:solidFill>
            <a:ln w="25400" cap="flat">
              <a:solidFill>
                <a:srgbClr val="B5D4F4"/>
              </a:solidFill>
              <a:prstDash val="solid,dash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5D4F4"/>
              </a:solidFill>
              <a:ln w="9525" cap="flat">
                <a:solidFill>
                  <a:srgbClr val="B5D4F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Jan'22</c:v>
                  </c:pt>
                  <c:pt idx="1">
                    <c:v>Feb'22</c:v>
                  </c:pt>
                  <c:pt idx="2">
                    <c:v>Mar'22</c:v>
                  </c:pt>
                  <c:pt idx="3">
                    <c:v>Apr'22</c:v>
                  </c:pt>
                  <c:pt idx="4">
                    <c:v>May'22</c:v>
                  </c:pt>
                  <c:pt idx="5">
                    <c:v>Jun'22</c:v>
                  </c:pt>
                  <c:pt idx="6">
                    <c:v>Jul'22</c:v>
                  </c:pt>
                  <c:pt idx="7">
                    <c:v>Aug'22</c:v>
                  </c:pt>
                  <c:pt idx="8">
                    <c:v>Sep'22</c:v>
                  </c:pt>
                  <c:pt idx="9">
                    <c:v>Oct'22</c:v>
                  </c:pt>
                  <c:pt idx="10">
                    <c:v>Nov'22</c:v>
                  </c:pt>
                  <c:pt idx="11">
                    <c:v>Dec'22</c:v>
                  </c:pt>
                  <c:pt idx="12">
                    <c:v>Jan'23</c:v>
                  </c:pt>
                  <c:pt idx="13">
                    <c:v>Feb'23</c:v>
                  </c:pt>
                  <c:pt idx="14">
                    <c:v>Mar'23</c:v>
                  </c:pt>
                  <c:pt idx="15">
                    <c:v>Apr'23</c:v>
                  </c:pt>
                  <c:pt idx="16">
                    <c:v>May'23</c:v>
                  </c:pt>
                  <c:pt idx="17">
                    <c:v>Jun'23</c:v>
                  </c:pt>
                  <c:pt idx="18">
                    <c:v>Jul'23</c:v>
                  </c:pt>
                  <c:pt idx="19">
                    <c:v>Aug'23</c:v>
                  </c:pt>
                  <c:pt idx="20">
                    <c:v>Sep'23</c:v>
                  </c:pt>
                  <c:pt idx="21">
                    <c:v>Oct'23</c:v>
                  </c:pt>
                  <c:pt idx="22">
                    <c:v>Nov'23</c:v>
                  </c:pt>
                  <c:pt idx="23">
                    <c:v>Dec'23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383</c:v>
                </c:pt>
                <c:pt idx="1">
                  <c:v>352</c:v>
                </c:pt>
                <c:pt idx="2">
                  <c:v>382</c:v>
                </c:pt>
                <c:pt idx="3">
                  <c:v>367</c:v>
                </c:pt>
                <c:pt idx="4">
                  <c:v>380</c:v>
                </c:pt>
                <c:pt idx="5">
                  <c:v>372</c:v>
                </c:pt>
                <c:pt idx="6">
                  <c:v>396</c:v>
                </c:pt>
                <c:pt idx="7">
                  <c:v>382</c:v>
                </c:pt>
                <c:pt idx="8">
                  <c:v>369</c:v>
                </c:pt>
                <c:pt idx="9">
                  <c:v>388</c:v>
                </c:pt>
                <c:pt idx="10">
                  <c:v>375</c:v>
                </c:pt>
                <c:pt idx="11">
                  <c:v>379</c:v>
                </c:pt>
                <c:pt idx="12">
                  <c:v>380</c:v>
                </c:pt>
                <c:pt idx="13">
                  <c:v>350</c:v>
                </c:pt>
                <c:pt idx="14">
                  <c:v>379</c:v>
                </c:pt>
                <c:pt idx="15">
                  <c:v>364</c:v>
                </c:pt>
                <c:pt idx="16">
                  <c:v>378</c:v>
                </c:pt>
                <c:pt idx="17">
                  <c:v>369</c:v>
                </c:pt>
                <c:pt idx="18">
                  <c:v>393</c:v>
                </c:pt>
                <c:pt idx="19">
                  <c:v>380</c:v>
                </c:pt>
                <c:pt idx="20">
                  <c:v>368</c:v>
                </c:pt>
                <c:pt idx="21">
                  <c:v>387</c:v>
                </c:pt>
                <c:pt idx="22">
                  <c:v>374</c:v>
                </c:pt>
                <c:pt idx="23">
                  <c:v>378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80% CI</c:v>
                </c:pt>
              </c:strCache>
            </c:strRef>
          </c:tx>
          <c:spPr>
            <a:solidFill>
              <a:srgbClr val="B5D4F4"/>
            </a:solidFill>
            <a:ln w="25400" cap="flat">
              <a:solidFill>
                <a:srgbClr val="B5D4F4"/>
              </a:solidFill>
              <a:prstDash val="solid,dash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5D4F4"/>
              </a:solidFill>
              <a:ln w="9525" cap="flat">
                <a:solidFill>
                  <a:srgbClr val="B5D4F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Jan'22</c:v>
                  </c:pt>
                  <c:pt idx="1">
                    <c:v>Feb'22</c:v>
                  </c:pt>
                  <c:pt idx="2">
                    <c:v>Mar'22</c:v>
                  </c:pt>
                  <c:pt idx="3">
                    <c:v>Apr'22</c:v>
                  </c:pt>
                  <c:pt idx="4">
                    <c:v>May'22</c:v>
                  </c:pt>
                  <c:pt idx="5">
                    <c:v>Jun'22</c:v>
                  </c:pt>
                  <c:pt idx="6">
                    <c:v>Jul'22</c:v>
                  </c:pt>
                  <c:pt idx="7">
                    <c:v>Aug'22</c:v>
                  </c:pt>
                  <c:pt idx="8">
                    <c:v>Sep'22</c:v>
                  </c:pt>
                  <c:pt idx="9">
                    <c:v>Oct'22</c:v>
                  </c:pt>
                  <c:pt idx="10">
                    <c:v>Nov'22</c:v>
                  </c:pt>
                  <c:pt idx="11">
                    <c:v>Dec'22</c:v>
                  </c:pt>
                  <c:pt idx="12">
                    <c:v>Jan'23</c:v>
                  </c:pt>
                  <c:pt idx="13">
                    <c:v>Feb'23</c:v>
                  </c:pt>
                  <c:pt idx="14">
                    <c:v>Mar'23</c:v>
                  </c:pt>
                  <c:pt idx="15">
                    <c:v>Apr'23</c:v>
                  </c:pt>
                  <c:pt idx="16">
                    <c:v>May'23</c:v>
                  </c:pt>
                  <c:pt idx="17">
                    <c:v>Jun'23</c:v>
                  </c:pt>
                  <c:pt idx="18">
                    <c:v>Jul'23</c:v>
                  </c:pt>
                  <c:pt idx="19">
                    <c:v>Aug'23</c:v>
                  </c:pt>
                  <c:pt idx="20">
                    <c:v>Sep'23</c:v>
                  </c:pt>
                  <c:pt idx="21">
                    <c:v>Oct'23</c:v>
                  </c:pt>
                  <c:pt idx="22">
                    <c:v>Nov'23</c:v>
                  </c:pt>
                  <c:pt idx="23">
                    <c:v>Dec'23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462</c:v>
                </c:pt>
                <c:pt idx="1">
                  <c:v>424</c:v>
                </c:pt>
                <c:pt idx="2">
                  <c:v>462</c:v>
                </c:pt>
                <c:pt idx="3">
                  <c:v>445</c:v>
                </c:pt>
                <c:pt idx="4">
                  <c:v>460</c:v>
                </c:pt>
                <c:pt idx="5">
                  <c:v>449</c:v>
                </c:pt>
                <c:pt idx="6">
                  <c:v>475</c:v>
                </c:pt>
                <c:pt idx="7">
                  <c:v>461</c:v>
                </c:pt>
                <c:pt idx="8">
                  <c:v>447</c:v>
                </c:pt>
                <c:pt idx="9">
                  <c:v>468</c:v>
                </c:pt>
                <c:pt idx="10">
                  <c:v>452</c:v>
                </c:pt>
                <c:pt idx="11">
                  <c:v>459</c:v>
                </c:pt>
                <c:pt idx="12">
                  <c:v>460</c:v>
                </c:pt>
                <c:pt idx="13">
                  <c:v>422</c:v>
                </c:pt>
                <c:pt idx="14">
                  <c:v>459</c:v>
                </c:pt>
                <c:pt idx="15">
                  <c:v>442</c:v>
                </c:pt>
                <c:pt idx="16">
                  <c:v>458</c:v>
                </c:pt>
                <c:pt idx="17">
                  <c:v>447</c:v>
                </c:pt>
                <c:pt idx="18">
                  <c:v>473</c:v>
                </c:pt>
                <c:pt idx="19">
                  <c:v>459</c:v>
                </c:pt>
                <c:pt idx="20">
                  <c:v>445</c:v>
                </c:pt>
                <c:pt idx="21">
                  <c:v>468</c:v>
                </c:pt>
                <c:pt idx="22">
                  <c:v>451</c:v>
                </c:pt>
                <c:pt idx="23">
                  <c:v>457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B4B2A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90"/>
          <c:min val="340"/>
        </c:scaling>
        <c:delete val="0"/>
        <c:axPos val="l"/>
        <c:majorGridlines>
          <c:spPr>
            <a:ln w="6350" cap="flat">
              <a:solidFill>
                <a:srgbClr val="D3D1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4B2A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5D4F4"/>
                </a:solidFill>
              </a:rPr>
              <a:t>RETAIL PERFORMANCE INTELLIGENCE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D4F4"/>
                </a:solidFill>
              </a:rPr>
              <a:t>January – February 2022  ·  mysql_data.csv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8229600" cy="274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3,262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B5D4F4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3017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B5D4F4"/>
                </a:solidFill>
              </a:rPr>
              <a:t>Stores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3017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B5D4F4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32120" y="3017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B5D4F4"/>
                </a:solidFill>
              </a:rPr>
              <a:t>Regions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0" y="3017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$22.0M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B5D4F4"/>
                </a:solidFill>
              </a:rPr>
              <a:t>Net Revenue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B2A9"/>
                </a:solidFill>
              </a:rPr>
              <a:t>Prepared by Analytics CoE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5D4F4"/>
                </a:solidFill>
              </a:rPr>
              <a:t>EXECUTIVE SNAPSHOT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731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2A9"/>
                </a:solidFill>
              </a:rPr>
              <a:t>Jan – Feb 2022  ·  mysql_data.csv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1664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" y="658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4B2A9"/>
                </a:solidFill>
              </a:rPr>
              <a:t>NET REVENUE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92608" y="8503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$22.0M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2608" y="1216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After discounts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" y="1426464"/>
            <a:ext cx="1444752" cy="27432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42646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5FA5"/>
                </a:solidFill>
              </a:rPr>
              <a:t>34-day window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56816" y="594360"/>
            <a:ext cx="1664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66544" y="658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4B2A9"/>
                </a:solidFill>
              </a:rPr>
              <a:t>UNITS SOLD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48256" y="8503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443K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48256" y="1216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All categories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48256" y="1426464"/>
            <a:ext cx="1444752" cy="27432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142646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6D11"/>
                </a:solidFill>
              </a:rPr>
              <a:t>↑ Consistent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12464" y="594360"/>
            <a:ext cx="1664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22192" y="658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4B2A9"/>
                </a:solidFill>
              </a:rPr>
              <a:t>HOLIDAY REVENUE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03904" y="8503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$11.1M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03904" y="1216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vs $10.9M normal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03904" y="1426464"/>
            <a:ext cx="1444752" cy="27432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03904" y="142646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6D11"/>
                </a:solidFill>
              </a:rPr>
              <a:t>+1.8% lift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68112" y="594360"/>
            <a:ext cx="1664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658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4B2A9"/>
                </a:solidFill>
              </a:rPr>
              <a:t>TOP CATEGORY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59552" y="8503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Elec.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59552" y="1216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$4.76M · 21.6% shr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59552" y="1426464"/>
            <a:ext cx="1444752" cy="27432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142646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6D11"/>
                </a:solidFill>
              </a:rPr>
              <a:t>↑ Jan surge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23760" y="594360"/>
            <a:ext cx="166420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33488" y="658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B4B2A9"/>
                </a:solidFill>
              </a:rPr>
              <a:t>TOP STORE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85039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S002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15200" y="121615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</a:rPr>
              <a:t>$4.70M revenue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0" y="1426464"/>
            <a:ext cx="1444752" cy="27432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42646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F0B"/>
                </a:solidFill>
              </a:rPr>
              <a:t>S001 lags $649K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01168" y="1965960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4048" y="2057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REVENUE TREND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4048" y="22494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Daily net revenue — January 2022 ($K)</a:t>
            </a:r>
            <a:endParaRPr lang="en-US" sz="12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201168" y="2377440"/>
          <a:ext cx="53949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5687568" y="1965960"/>
            <a:ext cx="325526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87568" y="1965960"/>
            <a:ext cx="54864" cy="2834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33872" y="2057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KEY OBSERVATIONS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833872" y="2331720"/>
            <a:ext cx="256032" cy="2560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33872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↑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144768" y="233172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Peak day Jan 9: $856K — highest single-day revenue in the period.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833872" y="2907792"/>
            <a:ext cx="256032" cy="2560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833872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↓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144768" y="290779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Mid-month trough Jan 12–13 drops to $556K — a $300K intra-month swing.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833872" y="3483864"/>
            <a:ext cx="256032" cy="2560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33872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→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144768" y="348386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Daily average: $673K. Volatility likely tied to day-of-week patterns.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833872" y="4059936"/>
            <a:ext cx="256032" cy="2560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33872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⚠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144768" y="405993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Final 3 days show declining trend — investigate promo calendar end-of-month.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5D4F4"/>
                </a:solidFill>
              </a:rPr>
              <a:t>CATEGORY &amp; STORE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2A9"/>
                </a:solidFill>
              </a:rPr>
              <a:t>Jan – Feb 2022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4297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685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CATEGORY REVENUE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877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Net revenue by product category ($K)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01168" y="118872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645152" y="594360"/>
            <a:ext cx="4297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28032" y="685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STORE RANKING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828032" y="877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Net revenue by store ($K)</a:t>
            </a:r>
            <a:endParaRPr lang="en-US" sz="12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645152" y="118872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5D4F4"/>
                </a:solidFill>
              </a:rPr>
              <a:t>STORE × CATEGORY HEATMAP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2A9"/>
                </a:solidFill>
              </a:rPr>
              <a:t>Net Revenue ($K)  ·  Darker = Higher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8741664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6858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Net revenue per store–category cell ($K). Deeper blue = stronger performance.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4B2A9"/>
                </a:solidFill>
              </a:rPr>
              <a:t>CLOTHING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0604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4B2A9"/>
                </a:solidFill>
              </a:rPr>
              <a:t>ELECTRONICS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4B2A9"/>
                </a:solidFill>
              </a:rPr>
              <a:t>FURNITURE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4068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4B2A9"/>
                </a:solidFill>
              </a:rPr>
              <a:t>GROCERIES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4B2A9"/>
                </a:solidFill>
              </a:rPr>
              <a:t>TOYS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39903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S001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43584" y="1453896"/>
            <a:ext cx="1307592" cy="457200"/>
          </a:xfrm>
          <a:prstGeom prst="rect">
            <a:avLst/>
          </a:prstGeom>
          <a:solidFill>
            <a:srgbClr val="B5D4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145389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787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60904" y="1453896"/>
            <a:ext cx="1307592" cy="457200"/>
          </a:xfrm>
          <a:prstGeom prst="rect">
            <a:avLst/>
          </a:prstGeom>
          <a:solidFill>
            <a:srgbClr val="378A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0904" y="145389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C53"/>
                </a:solidFill>
              </a:rPr>
              <a:t>996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78224" y="1453896"/>
            <a:ext cx="1307592" cy="457200"/>
          </a:xfrm>
          <a:prstGeom prst="rect">
            <a:avLst/>
          </a:prstGeom>
          <a:solidFill>
            <a:srgbClr val="B5D4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8224" y="145389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816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95544" y="1453896"/>
            <a:ext cx="1307592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95544" y="145389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5FA5"/>
                </a:solidFill>
              </a:rPr>
              <a:t>658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12864" y="1453896"/>
            <a:ext cx="1307592" cy="457200"/>
          </a:xfrm>
          <a:prstGeom prst="rect">
            <a:avLst/>
          </a:prstGeom>
          <a:solidFill>
            <a:srgbClr val="B5D4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1453896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791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19659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S002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43584" y="2020824"/>
            <a:ext cx="1307592" cy="457200"/>
          </a:xfrm>
          <a:prstGeom prst="rect">
            <a:avLst/>
          </a:prstGeom>
          <a:solidFill>
            <a:srgbClr val="85B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3584" y="2020824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839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60904" y="2020824"/>
            <a:ext cx="1307592" cy="457200"/>
          </a:xfrm>
          <a:prstGeom prst="rect">
            <a:avLst/>
          </a:prstGeom>
          <a:solidFill>
            <a:srgbClr val="378A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60904" y="2020824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C53"/>
                </a:solidFill>
              </a:rPr>
              <a:t>967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78224" y="2020824"/>
            <a:ext cx="1307592" cy="457200"/>
          </a:xfrm>
          <a:prstGeom prst="rect">
            <a:avLst/>
          </a:prstGeom>
          <a:solidFill>
            <a:srgbClr val="85B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78224" y="2020824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863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95544" y="2020824"/>
            <a:ext cx="1307592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2020824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F1FB"/>
                </a:solidFill>
              </a:rPr>
              <a:t>1017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12864" y="2020824"/>
            <a:ext cx="1307592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2020824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F1FB"/>
                </a:solidFill>
              </a:rPr>
              <a:t>1012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0040" y="253288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S003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243584" y="2587752"/>
            <a:ext cx="1307592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43584" y="2587752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F1FB"/>
                </a:solidFill>
              </a:rPr>
              <a:t>1011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660904" y="2587752"/>
            <a:ext cx="1307592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60904" y="2587752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F1FB"/>
                </a:solidFill>
              </a:rPr>
              <a:t>1021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078224" y="2587752"/>
            <a:ext cx="1307592" cy="457200"/>
          </a:xfrm>
          <a:prstGeom prst="rect">
            <a:avLst/>
          </a:prstGeom>
          <a:solidFill>
            <a:srgbClr val="B5D4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78224" y="2587752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824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95544" y="2587752"/>
            <a:ext cx="1307592" cy="457200"/>
          </a:xfrm>
          <a:prstGeom prst="rect">
            <a:avLst/>
          </a:prstGeom>
          <a:solidFill>
            <a:srgbClr val="B5D4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95544" y="2587752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814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12864" y="2587752"/>
            <a:ext cx="1307592" cy="457200"/>
          </a:xfrm>
          <a:prstGeom prst="rect">
            <a:avLst/>
          </a:prstGeom>
          <a:solidFill>
            <a:srgbClr val="85B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12864" y="2587752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906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0040" y="30998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S004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243584" y="3154680"/>
            <a:ext cx="1307592" cy="457200"/>
          </a:xfrm>
          <a:prstGeom prst="rect">
            <a:avLst/>
          </a:prstGeom>
          <a:solidFill>
            <a:srgbClr val="378AD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43584" y="31546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C53"/>
                </a:solidFill>
              </a:rPr>
              <a:t>924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660904" y="3154680"/>
            <a:ext cx="1307592" cy="457200"/>
          </a:xfrm>
          <a:prstGeom prst="rect">
            <a:avLst/>
          </a:prstGeom>
          <a:solidFill>
            <a:srgbClr val="85B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60904" y="31546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891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078224" y="3154680"/>
            <a:ext cx="1307592" cy="457200"/>
          </a:xfrm>
          <a:prstGeom prst="rect">
            <a:avLst/>
          </a:prstGeom>
          <a:solidFill>
            <a:srgbClr val="85B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78224" y="31546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845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495544" y="3154680"/>
            <a:ext cx="1307592" cy="457200"/>
          </a:xfrm>
          <a:prstGeom prst="rect">
            <a:avLst/>
          </a:prstGeom>
          <a:solidFill>
            <a:srgbClr val="B5D4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95544" y="31546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822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912864" y="3154680"/>
            <a:ext cx="1307592" cy="457200"/>
          </a:xfrm>
          <a:prstGeom prst="rect">
            <a:avLst/>
          </a:prstGeom>
          <a:solidFill>
            <a:srgbClr val="B5D4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12864" y="31546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821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20040" y="366674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S005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243584" y="3721608"/>
            <a:ext cx="1307592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43584" y="372160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5FA5"/>
                </a:solidFill>
              </a:rPr>
              <a:t>695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660904" y="3721608"/>
            <a:ext cx="1307592" cy="457200"/>
          </a:xfrm>
          <a:prstGeom prst="rect">
            <a:avLst/>
          </a:prstGeom>
          <a:solidFill>
            <a:srgbClr val="85B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60904" y="372160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885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078224" y="3721608"/>
            <a:ext cx="1307592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78224" y="372160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F1FB"/>
                </a:solidFill>
              </a:rPr>
              <a:t>1099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495544" y="3721608"/>
            <a:ext cx="1307592" cy="457200"/>
          </a:xfrm>
          <a:prstGeom prst="rect">
            <a:avLst/>
          </a:prstGeom>
          <a:solidFill>
            <a:srgbClr val="B5D4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95544" y="372160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802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912864" y="3721608"/>
            <a:ext cx="1307592" cy="457200"/>
          </a:xfrm>
          <a:prstGeom prst="rect">
            <a:avLst/>
          </a:prstGeom>
          <a:solidFill>
            <a:srgbClr val="85B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12864" y="372160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447C"/>
                </a:solidFill>
              </a:rPr>
              <a:t>901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01168" y="4462272"/>
            <a:ext cx="8741664" cy="34747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1168" y="4462272"/>
            <a:ext cx="5486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44622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Key: S003 Electronics ($1,021K) and S005 Furniture ($1,099K) are star cells. S001 Groceries ($658K) is the weakest — action needed.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5D4F4"/>
                </a:solidFill>
              </a:rPr>
              <a:t>PROMOTION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2A9"/>
                </a:solidFill>
              </a:rPr>
              <a:t>Discount elasticity &amp; holiday lift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4297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685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DISCOUNT ELASTICITY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877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Revenue by discount band ($K)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01168" y="118872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292608" y="3822192"/>
            <a:ext cx="4114800" cy="8229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2608" y="3822192"/>
            <a:ext cx="54864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0624" y="3822192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Anomaly at 10%: </a:t>
            </a:r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Unit volume spikes 12% above zero-discount baseline while revenue holds at $4.81M. Specific high-velocity SKUs concentrated in this band.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45152" y="594360"/>
            <a:ext cx="4297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28032" y="685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HOLIDAY PROMOTION LIFT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8032" y="877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Units sold uplift on promo days (%)</a:t>
            </a:r>
            <a:endParaRPr lang="en-US" sz="12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4645152" y="118872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4736592" y="3822192"/>
            <a:ext cx="4114800" cy="8229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36592" y="3822192"/>
            <a:ext cx="54864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64608" y="3822192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Redirect promo budget: </a:t>
            </a:r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Pause Furniture discounting (-4.7% lift). Double down on Grocery promos (+10.9%) on holiday days.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5D4F4"/>
                </a:solidFill>
              </a:rPr>
              <a:t>REGION &amp; PRICING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2A9"/>
                </a:solidFill>
              </a:rPr>
              <a:t>Jan – Feb 2022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4297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685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REGION REVENUE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877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Net revenue by region ($K)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01168" y="118872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292608" y="3822192"/>
            <a:ext cx="4114800" cy="8229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2608" y="3822192"/>
            <a:ext cx="54864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0624" y="3822192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North leads East by $618K (11.8%): </a:t>
            </a:r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Far wider than near-parity seen in full annual data. Diagnose January North driver and replicate in lagging regions.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45152" y="594360"/>
            <a:ext cx="4297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28032" y="685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COMPETITOR PRICING GAP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28032" y="877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Our price vs. competitor by category ($)</a:t>
            </a:r>
            <a:endParaRPr lang="en-US" sz="12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4645152" y="118872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4736592" y="3822192"/>
            <a:ext cx="4114800" cy="8229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36592" y="3822192"/>
            <a:ext cx="54864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64608" y="3822192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Zero pricing power: </a:t>
            </a:r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Our prices are within $0.15 of competitors across all categories. Commoditized market — margin improvement must come from operational efficiency.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5D4F4"/>
                </a:solidFill>
              </a:rPr>
              <a:t>STRATEGIC DIAGNOSTIC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73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4B2A9"/>
                </a:solidFill>
              </a:rPr>
              <a:t>Priority-ranked findings &amp;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8741664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58368"/>
            <a:ext cx="8558784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658368"/>
            <a:ext cx="32004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</a:rPr>
              <a:t>#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</a:rPr>
              <a:t>FINDING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07408" y="658368"/>
            <a:ext cx="32004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</a:rPr>
              <a:t>STRATEGIC IMPLICATION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99248" y="658368"/>
            <a:ext cx="1170432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</a:rPr>
              <a:t>PRIORITY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2608" y="1024128"/>
            <a:ext cx="855878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2412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B2A9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1024128"/>
            <a:ext cx="36576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S001 trails all peers by $649K — structural store underperformance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07408" y="1024128"/>
            <a:ext cx="32004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Store ops audit: traffic, conversion, staffing model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44968" y="1143000"/>
            <a:ext cx="1078992" cy="274320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4968" y="114300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2D2D"/>
                </a:solidFill>
              </a:rPr>
              <a:t>CRITICAL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92608" y="1563624"/>
            <a:ext cx="8558784" cy="51206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1563624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B2A9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1563624"/>
            <a:ext cx="36576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Electronics surges to #1 in Jan — category demand shift post-holiday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07408" y="1563624"/>
            <a:ext cx="32004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Pull forward inventory orders; review allocation targets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44968" y="1682496"/>
            <a:ext cx="1078992" cy="27432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44968" y="168249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</a:rPr>
              <a:t>HIGH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92608" y="2103120"/>
            <a:ext cx="855878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103120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B2A9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2103120"/>
            <a:ext cx="36576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10% discount drives anomalous +12% unit spike — SKU concentration likely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07408" y="2103120"/>
            <a:ext cx="32004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Identify SKUs driving spike; test 10% as promotional floor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44968" y="2221992"/>
            <a:ext cx="1078992" cy="27432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44968" y="222199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</a:rPr>
              <a:t>HIGH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2608" y="2642616"/>
            <a:ext cx="8558784" cy="51206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2642616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B2A9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2642616"/>
            <a:ext cx="36576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Furniture promos destroy -4.7% units — counter-productive spend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07408" y="2642616"/>
            <a:ext cx="32004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Pause Furniture discounting; redirect promo budget to Grocery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44968" y="2761488"/>
            <a:ext cx="1078992" cy="27432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44968" y="276148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</a:rPr>
              <a:t>HIGH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92608" y="3182112"/>
            <a:ext cx="855878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3182112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B2A9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" y="3182112"/>
            <a:ext cx="36576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North outperforms East by 11.8% in Jan vs near-parity in annual data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07408" y="3182112"/>
            <a:ext cx="32004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Diagnose Jan North driver; build replication playbook for East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44968" y="3300984"/>
            <a:ext cx="1078992" cy="27432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44968" y="33009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5FA5"/>
                </a:solidFill>
              </a:rPr>
              <a:t>MODERATE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92608" y="3721608"/>
            <a:ext cx="8558784" cy="51206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372160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B2A9"/>
                </a:solidFill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368" y="3721608"/>
            <a:ext cx="36576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Inventory correlates with sales at r=0.587 — stock-out risk is real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07408" y="3721608"/>
            <a:ext cx="32004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Increase safety stock at high-velocity stores (S002, S003)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744968" y="3840480"/>
            <a:ext cx="1078992" cy="27432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44968" y="384048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5FA5"/>
                </a:solidFill>
              </a:rPr>
              <a:t>MODERATE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92608" y="4261104"/>
            <a:ext cx="855878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4261104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B2A9"/>
                </a:solidFill>
              </a:rPr>
              <a:t>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8368" y="4261104"/>
            <a:ext cx="36576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Groceries holiday lift strongest at +10.9% — untapped promo upside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07408" y="4261104"/>
            <a:ext cx="32004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Double down: schedule grocery promos on all holiday dates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44968" y="4379976"/>
            <a:ext cx="1078992" cy="27432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44968" y="43799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11"/>
                </a:solidFill>
              </a:rPr>
              <a:t>OPPORTUNITY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01168" y="4864608"/>
            <a:ext cx="8741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4B2A9"/>
                </a:solidFill>
              </a:rPr>
              <a:t>Source: mysql_data.csv · 3,262 rows · Jan 1 – Feb 2 2022 · Net revenue = Units Sold × Price × (1 − Discount%) · Prepared for internal strategic review only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5D4F4"/>
                </a:solidFill>
              </a:rPr>
              <a:t>DEMAND FORECASTING  ·  PROPHET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0" y="731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B2A9"/>
                </a:solidFill>
              </a:rPr>
              <a:t>Jan 2022 – Dec 2023  ·  forecast_results.csv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16642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66751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4B2A9"/>
                </a:solidFill>
              </a:rPr>
              <a:t>AVG MONTHLY FORECAST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92608" y="8412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</a:rPr>
              <a:t>$413K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92608" y="1216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Units per month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2608" y="1417320"/>
            <a:ext cx="1444752" cy="24688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417320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5FA5"/>
                </a:solidFill>
              </a:rPr>
              <a:t>↑ Stable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56816" y="594360"/>
            <a:ext cx="16642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48256" y="66751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4B2A9"/>
                </a:solidFill>
              </a:rPr>
              <a:t>2-YEAR TREND DRIFT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48256" y="8412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</a:rPr>
              <a:t>−1.0%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048256" y="1216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13,729 → 13,597 units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48256" y="1417320"/>
            <a:ext cx="1444752" cy="246888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1417320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</a:rPr>
              <a:t>⚠ Monitor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712464" y="594360"/>
            <a:ext cx="16642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03904" y="66751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4B2A9"/>
                </a:solidFill>
              </a:rPr>
              <a:t>CONFIDENCE BAND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03904" y="8412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</a:rPr>
              <a:t>±$40K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803904" y="1216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Avg monthly 80% CI range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03904" y="1417320"/>
            <a:ext cx="1444752" cy="2468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03904" y="1417320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11"/>
                </a:solidFill>
              </a:rPr>
              <a:t>↑ Stable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8112" y="594360"/>
            <a:ext cx="16642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59552" y="66751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4B2A9"/>
                </a:solidFill>
              </a:rPr>
              <a:t>PEAK FORECAST MONTH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559552" y="8412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</a:rPr>
              <a:t>Jul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559552" y="1216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$435K — summer seasonal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59552" y="1417320"/>
            <a:ext cx="1444752" cy="246888"/>
          </a:xfrm>
          <a:prstGeom prst="rect">
            <a:avLst/>
          </a:prstGeom>
          <a:solidFill>
            <a:srgbClr val="FDF6E3"/>
          </a:solidFill>
          <a:ln w="12700">
            <a:solidFill>
              <a:srgbClr val="FDF6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1417320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</a:rPr>
              <a:t>Seasonal peak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223760" y="594360"/>
            <a:ext cx="16642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0" y="66751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4B2A9"/>
                </a:solidFill>
              </a:rPr>
              <a:t>WEAKEST MONTH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315200" y="8412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</a:rPr>
              <a:t>Feb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315200" y="1216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$386–389K both years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15200" y="1417320"/>
            <a:ext cx="1444752" cy="246888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417320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2D2D"/>
                </a:solidFill>
              </a:rPr>
              <a:t>Plan inventory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01168" y="1828800"/>
            <a:ext cx="5943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4048" y="1920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MONTHLY DEMAND FORECAST (UNITS '000)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4048" y="20939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24-month outlook with 80% confidence interval</a:t>
            </a:r>
            <a:endParaRPr lang="en-US" sz="12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201168" y="2331720"/>
          <a:ext cx="59436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6236208" y="1828800"/>
            <a:ext cx="270662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400800" y="1920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WEEKLY PATTERN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400800" y="2093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Day-of-week demand effect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400800" y="24505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Mon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876288" y="2496312"/>
            <a:ext cx="1261872" cy="1645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360920" y="2496312"/>
            <a:ext cx="13716" cy="16459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36400" y="2505456"/>
            <a:ext cx="1024520" cy="14630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75320" y="245059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-136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400800" y="27706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Tue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876288" y="2816352"/>
            <a:ext cx="1261872" cy="1645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360920" y="2816352"/>
            <a:ext cx="13716" cy="16459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360920" y="2825496"/>
            <a:ext cx="624176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75320" y="27706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+83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400800" y="30906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Wed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876288" y="3136392"/>
            <a:ext cx="1261872" cy="1645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60920" y="3136392"/>
            <a:ext cx="13716" cy="16459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360920" y="3145536"/>
            <a:ext cx="105156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275320" y="30906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+14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400800" y="34107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Thu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876288" y="3456432"/>
            <a:ext cx="1261872" cy="1645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360920" y="3456432"/>
            <a:ext cx="13716" cy="16459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360920" y="3465576"/>
            <a:ext cx="607651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275320" y="34107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+81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400800" y="37307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Fri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876288" y="3776472"/>
            <a:ext cx="1261872" cy="1645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360920" y="3776472"/>
            <a:ext cx="13716" cy="16459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360920" y="3785616"/>
            <a:ext cx="286175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275320" y="37307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+38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6400800" y="405079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Sat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6876288" y="4096512"/>
            <a:ext cx="1261872" cy="1645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360920" y="4096512"/>
            <a:ext cx="13716" cy="16459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500143" y="4105656"/>
            <a:ext cx="860777" cy="14630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275320" y="405079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85A30"/>
                </a:solidFill>
              </a:rPr>
              <a:t>-115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6400800" y="43708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</a:rPr>
              <a:t>Sun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6876288" y="4416552"/>
            <a:ext cx="1261872" cy="1645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360920" y="4416552"/>
            <a:ext cx="13716" cy="164592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360920" y="4425696"/>
            <a:ext cx="262890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275320" y="43708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+35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6236208" y="4617720"/>
            <a:ext cx="2706624" cy="2011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236208" y="4617720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85FA5"/>
                </a:solidFill>
              </a:rPr>
              <a:t>Tue &amp; Thu peak  ·  Mon &amp; Sat trough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201168" y="4864608"/>
            <a:ext cx="5943600" cy="22860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201168" y="4864608"/>
            <a:ext cx="54864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29184" y="4864608"/>
            <a:ext cx="5742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A"/>
                </a:solidFill>
              </a:rPr>
              <a:t>Prophet model · 821-day window (Jan 2022 – Mar 2024) · 80% confidence bands · Additive seasonal decomposition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5D4F4"/>
                </a:solidFill>
              </a:rPr>
              <a:t>DEMAND DRIVER ANALYSIS  ·  FEATURE IMPORTANCE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731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B2A9"/>
                </a:solidFill>
              </a:rPr>
              <a:t>feature_importance.csv  ·  Random Forest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50292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694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WHAT DRIVES DEMAND?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868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Feature importance — % contribution to forecast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80060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44168"/>
            <a:ext cx="329184" cy="6858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44168"/>
            <a:ext cx="329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Competitor Pricing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44.0% importance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1499616"/>
            <a:ext cx="320040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499616"/>
            <a:ext cx="1407216" cy="2926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6056" y="14996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1847088"/>
            <a:ext cx="777240" cy="164592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8470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2D2D"/>
                </a:solidFill>
              </a:rPr>
              <a:t>CRITICAL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0040" y="2194560"/>
            <a:ext cx="4800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240280"/>
            <a:ext cx="329184" cy="6858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40280"/>
            <a:ext cx="329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5237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43.3% importance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2395728"/>
            <a:ext cx="320040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395728"/>
            <a:ext cx="1387053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5893" y="23957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2743200"/>
            <a:ext cx="777240" cy="164592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7432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2D2D"/>
                </a:solidFill>
              </a:rPr>
              <a:t>CRITICAL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0040" y="3090672"/>
            <a:ext cx="4800600" cy="777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136392"/>
            <a:ext cx="329184" cy="6858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136392"/>
            <a:ext cx="329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3145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Discount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34198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8.8% importance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0" y="3291840"/>
            <a:ext cx="320040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0" y="3291840"/>
            <a:ext cx="281955" cy="2926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0875" y="3291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8.8%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986784"/>
            <a:ext cx="4800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4032504"/>
            <a:ext cx="329184" cy="68580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032504"/>
            <a:ext cx="329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Holiday/Promotion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43159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3.9% importance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0" y="4187952"/>
            <a:ext cx="3200400" cy="292608"/>
          </a:xfrm>
          <a:prstGeom prst="rect">
            <a:avLst/>
          </a:prstGeom>
          <a:solidFill>
            <a:srgbClr val="F7F8FA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0" y="4187952"/>
            <a:ext cx="124176" cy="292608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13096" y="4187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3.9%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4892040"/>
            <a:ext cx="4800600" cy="1645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89204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 100%  ·  4 features  ·  Random Forest (sklearn)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76672" y="594360"/>
            <a:ext cx="3566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376672" y="594360"/>
            <a:ext cx="54864" cy="107899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658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</a:rPr>
              <a:t>#01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79008" y="676656"/>
            <a:ext cx="548640" cy="18288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79008" y="6766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47C"/>
                </a:solidFill>
              </a:rPr>
              <a:t>43.97%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86400" y="88696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Competitive price moves are the #1 demand driver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0" y="11247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Competitor price changes explain 44% of demand variance. Customers respond strongly to relative pricing — classic competitive market behaviour.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86400" y="1481328"/>
            <a:ext cx="3337560" cy="1371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1481328"/>
            <a:ext cx="3337560" cy="137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C447C"/>
                </a:solidFill>
              </a:rPr>
              <a:t>→  Monitor competitor prices daily. A $1 cut can shift ~44 units/day.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376672" y="1728216"/>
            <a:ext cx="3566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376672" y="1728216"/>
            <a:ext cx="54864" cy="10789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0" y="17922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</a:rPr>
              <a:t>#02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79008" y="1810512"/>
            <a:ext cx="548640" cy="18288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79008" y="18105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5FA5"/>
                </a:solidFill>
              </a:rPr>
              <a:t>43.34%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86400" y="202082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Own price is equally powerful — a margin lever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86400" y="22585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Our price explains 43% of demand. Combined, pricing dynamics drive 87% of all demand variation — the single biggest strategic battleground.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486400" y="2615184"/>
            <a:ext cx="3337560" cy="1371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0" y="2615184"/>
            <a:ext cx="3337560" cy="137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85FA5"/>
                </a:solidFill>
              </a:rPr>
              <a:t>→  Model a 5% price reduction vs margin trade-off for each category.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376672" y="2862072"/>
            <a:ext cx="3566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376672" y="2862072"/>
            <a:ext cx="54864" cy="107899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0" y="2926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</a:rPr>
              <a:t>#03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779008" y="2944368"/>
            <a:ext cx="548640" cy="18288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79008" y="29443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8ADD"/>
                </a:solidFill>
              </a:rPr>
              <a:t>8.81%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486400" y="31546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Discounts drive less volume than expected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486400" y="33924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Promotions account for only 8.8% of variation — far less than pricing. Confirms dashboard finding: discount spend is not earning incremental volume.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486400" y="3749040"/>
            <a:ext cx="3337560" cy="1371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0" y="3749040"/>
            <a:ext cx="3337560" cy="137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8ADD"/>
                </a:solidFill>
              </a:rPr>
              <a:t>→  Reduce blanket discounting. Redirect budget to targeted price-matching.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376672" y="3995928"/>
            <a:ext cx="3566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376672" y="3995928"/>
            <a:ext cx="54864" cy="1078992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86400" y="40599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780"/>
                </a:solidFill>
              </a:rPr>
              <a:t>#04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779008" y="4078224"/>
            <a:ext cx="548640" cy="18288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79008" y="40782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780"/>
                </a:solidFill>
              </a:rPr>
              <a:t>3.88%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486400" y="428853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Holidays shift mix, not overall volume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486400" y="4526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Calendar events contribute just 3.9% to variance. Holidays matter for category mix (Groceries +10.9%) not total units — consistent with earlier findings.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486400" y="4882896"/>
            <a:ext cx="3337560" cy="13716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0" y="4882896"/>
            <a:ext cx="3337560" cy="137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→  Use holidays for Grocery promotions, not store-wide volume plays.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5D4F4"/>
                </a:solidFill>
              </a:rPr>
              <a:t>FORECAST DECOMPOSITION  ·  STRATEGIC PLAYBOOK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98080" y="731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4B2A9"/>
                </a:solidFill>
              </a:rPr>
              <a:t>Prophet additive model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01168" y="594360"/>
            <a:ext cx="87416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69494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B2A9"/>
                </a:solidFill>
              </a:rPr>
              <a:t>HOW THE FORECAST IS BUILT — ADDITIVE DECOMPOSITION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886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Demand = Trend + Weekly seasonality + Annual seasonality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79576"/>
            <a:ext cx="2029968" cy="1234440"/>
          </a:xfrm>
          <a:prstGeom prst="rect">
            <a:avLst/>
          </a:prstGeom>
          <a:solidFill>
            <a:srgbClr val="E6F1F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79576"/>
            <a:ext cx="2029968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795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TREND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14630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13,729 → 13,597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17099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A"/>
                </a:solidFill>
              </a:rPr>
              <a:t>Long-run demand trajectory. Declining −1.0% over 2 years — structural softening. Growth initiatives required.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350008" y="1179576"/>
            <a:ext cx="118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B2A9"/>
                </a:solidFill>
              </a:rPr>
              <a:t>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68880" y="1179576"/>
            <a:ext cx="2029968" cy="1234440"/>
          </a:xfrm>
          <a:prstGeom prst="rect">
            <a:avLst/>
          </a:prstGeom>
          <a:solidFill>
            <a:srgbClr val="EAF3D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1179576"/>
            <a:ext cx="202996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1795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WEEKLY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14630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Tue +83 / Mon −136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42032" y="17099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A"/>
                </a:solidFill>
              </a:rPr>
              <a:t>Day-of-week rhythms baked into demand. Monday &amp; Saturday are structurally weak. Operationally actionable.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498848" y="1179576"/>
            <a:ext cx="118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B2A9"/>
                </a:solidFill>
              </a:rPr>
              <a:t>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1179576"/>
            <a:ext cx="2029968" cy="1234440"/>
          </a:xfrm>
          <a:prstGeom prst="rect">
            <a:avLst/>
          </a:prstGeom>
          <a:solidFill>
            <a:srgbClr val="FDF6E3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1179576"/>
            <a:ext cx="2029968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1795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YEARLY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0872" y="14630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Jul +362 / Feb −167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0872" y="17099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A"/>
                </a:solidFill>
              </a:rPr>
              <a:t>Annual seasonal cycle. July is peak ($435K). February is the seasonal trough ($386K). Plan stock accordingly.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647688" y="1179576"/>
            <a:ext cx="1188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B2A9"/>
                </a:solidFill>
              </a:rPr>
              <a:t>=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66560" y="1179576"/>
            <a:ext cx="2029968" cy="123444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1179576"/>
            <a:ext cx="2029968" cy="2560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17957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FORECAST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39712" y="14630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$386K – $435K range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39712" y="17099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E5A"/>
                </a:solidFill>
              </a:rPr>
              <a:t>Final prediction: sum of all components. $49K seasonal swing to plan around monthly. CI band is ±$40K.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01168" y="2606040"/>
            <a:ext cx="8741664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2606040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STRATEGIC PLAYBOOK — TRANSLATING FORECAST INTO ACTION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" y="2907792"/>
            <a:ext cx="286207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01168" y="2907792"/>
            <a:ext cx="2862072" cy="5486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" y="2999232"/>
            <a:ext cx="822960" cy="201168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2999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32D2D"/>
                </a:solidFill>
              </a:rPr>
              <a:t>CRITICAL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92608" y="321868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Combat Trend Decline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2608" y="3547872"/>
            <a:ext cx="164592" cy="16459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93776" y="352958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Trend down −1.0% over 2Y: projected −$5K/month by 2024 if unaddressed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92608" y="3927348"/>
            <a:ext cx="164592" cy="16459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39273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93776" y="39090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Root cause: pricing parity leaves no competitive differentiation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2608" y="4306824"/>
            <a:ext cx="164592" cy="16459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93776" y="428853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Launch loyalty pricing &amp; retention programme in Q2 2022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92608" y="4686300"/>
            <a:ext cx="164592" cy="16459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" y="46863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93776" y="466801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Target: reverse trend to +0.5% growth by Q3 2022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154680" y="2907792"/>
            <a:ext cx="286207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154680" y="2907792"/>
            <a:ext cx="2862072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46120" y="2999232"/>
            <a:ext cx="822960" cy="201168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46120" y="2999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</a:rPr>
              <a:t>HIGH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246120" y="321868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Pricing Strategy Overhaul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46120" y="3547872"/>
            <a:ext cx="164592" cy="16459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46120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447288" y="352958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Pricing drives 87% of demand — the highest-leverage variable by far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46120" y="3927348"/>
            <a:ext cx="164592" cy="16459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46120" y="39273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447288" y="39090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Current price-match strategy creates zero competitive moat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46120" y="4306824"/>
            <a:ext cx="164592" cy="16459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4612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447288" y="428853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Test 2–3% price premium in North where we already lead by $618K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46120" y="4686300"/>
            <a:ext cx="164592" cy="16459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46120" y="46863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447288" y="466801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Differentiate on service &amp; value, not pure price-matching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108192" y="2907792"/>
            <a:ext cx="286207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108192" y="2907792"/>
            <a:ext cx="2862072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99632" y="2999232"/>
            <a:ext cx="822960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99632" y="2999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11"/>
                </a:solidFill>
              </a:rPr>
              <a:t>HIGH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199632" y="321868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Seasonal Inventory Planning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199632" y="3547872"/>
            <a:ext cx="164592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99632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400800" y="352958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July peaks at $435K — build inventory in June across all categories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199632" y="3927348"/>
            <a:ext cx="164592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99632" y="39273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6400800" y="39090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February troughs at $386K — cut orders 8–10% in January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199632" y="4306824"/>
            <a:ext cx="164592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99632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400800" y="428853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Monday &amp; Saturday are structurally weak — reduce perishable buys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199632" y="4686300"/>
            <a:ext cx="164592" cy="1645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99632" y="46863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6400800" y="466801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E5A"/>
                </a:solidFill>
              </a:rPr>
              <a:t>Launch new products on Tuesdays &amp; Thursdays (demand peaks)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01168" y="5102352"/>
            <a:ext cx="8741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4B2A9"/>
                </a:solidFill>
              </a:rPr>
              <a:t>Model: Facebook Prophet · Additive seasonality · 80% CI · Feature importance: Random Forest (sklearn) · forecast_results.csv + feature_importance.csv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McKinsey Retail Dashboard — mysql_data.csv</dc:title>
  <dc:subject>PptxGenJS Presentation</dc:subject>
  <dc:creator>Analytics CoE</dc:creator>
  <cp:lastModifiedBy>Analytics CoE</cp:lastModifiedBy>
  <cp:revision>1</cp:revision>
  <dcterms:created xsi:type="dcterms:W3CDTF">2026-05-16T06:06:09Z</dcterms:created>
  <dcterms:modified xsi:type="dcterms:W3CDTF">2026-05-16T06:06:09Z</dcterms:modified>
</cp:coreProperties>
</file>